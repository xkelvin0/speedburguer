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71" r:id="rId7"/>
    <p:sldId id="276" r:id="rId8"/>
    <p:sldId id="275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8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7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77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13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" y="1751076"/>
            <a:ext cx="3749040" cy="64008"/>
          </a:xfrm>
          <a:prstGeom prst="rect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502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SpeedBurger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B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Sabor Que Te Mueve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78753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Desarrollo Web · Fast Food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199015"/>
            <a:ext cx="3566160" cy="2824089"/>
          </a:xfrm>
          <a:prstGeom prst="rect">
            <a:avLst/>
          </a:prstGeom>
          <a:solidFill>
            <a:srgbClr val="242424"/>
          </a:solidFill>
          <a:ln w="1905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0" name="Text 7"/>
          <p:cNvSpPr/>
          <p:nvPr/>
        </p:nvSpPr>
        <p:spPr>
          <a:xfrm>
            <a:off x="502920" y="2944368"/>
            <a:ext cx="3291840" cy="1377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Acevedo Huarachi Kelvin Jesus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Campusano Solis Angel Leonel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s-PE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ñorga Pinedo Paolo Alexander</a:t>
            </a:r>
          </a:p>
          <a:p>
            <a:pPr marL="0" indent="0">
              <a:buNone/>
            </a:pPr>
            <a:r>
              <a:rPr lang="es-PE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Castillo Sullón Juan Pablo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Desarrollo Web</a:t>
            </a:r>
          </a:p>
          <a:p>
            <a:pPr marL="0" indent="0"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Ortiz Piñella Manuel Alejandro</a:t>
            </a:r>
          </a:p>
          <a:p>
            <a:pPr marL="0" indent="0">
              <a:buNone/>
            </a:pPr>
            <a:endParaRPr lang="en-US" sz="13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09/05/2026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B782A4E-9AFA-A08B-D8FD-6868D0EAE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8136"/>
            <a:ext cx="1492432" cy="1183444"/>
          </a:xfrm>
          <a:prstGeom prst="rect">
            <a:avLst/>
          </a:prstGeom>
        </p:spPr>
      </p:pic>
      <p:pic>
        <p:nvPicPr>
          <p:cNvPr id="1026" name="Picture 2" descr="UTP - Universidad Tecnológica del Perú | Podcast on Spotify">
            <a:extLst>
              <a:ext uri="{FF2B5EF4-FFF2-40B4-BE49-F238E27FC236}">
                <a16:creationId xmlns:a16="http://schemas.microsoft.com/office/drawing/2014/main" id="{CF6F7105-2AB9-2850-B94F-662B2FD35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232" y="0"/>
            <a:ext cx="1377697" cy="118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05840"/>
            <a:ext cx="8778240" cy="41376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¿Quiénes Somos?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663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822960"/>
          </a:xfrm>
          <a:prstGeom prst="rect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SpeedBurger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663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109728" cy="822960"/>
          </a:xfrm>
          <a:prstGeom prst="rect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Rubro / Sector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de Comida Rápida (Fast Food)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663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042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109728" cy="822960"/>
          </a:xfrm>
          <a:prstGeom prst="rect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Sabor Que Te Mueve": calidad y rapidez extrema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37632" y="1188720"/>
            <a:ext cx="3200400" cy="3474720"/>
          </a:xfrm>
          <a:prstGeom prst="rect">
            <a:avLst/>
          </a:prstGeom>
          <a:solidFill>
            <a:srgbClr val="242424"/>
          </a:solidFill>
          <a:ln w="25400">
            <a:solidFill>
              <a:srgbClr val="FFBE00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7" name="Text 15"/>
          <p:cNvSpPr/>
          <p:nvPr/>
        </p:nvSpPr>
        <p:spPr>
          <a:xfrm>
            <a:off x="557784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Productos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17373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 Hamburguesas 100% artesanales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23560" y="22037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🍗  Pollo Broaster crujiente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23560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🍟  Salchipapas abundantes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23560" y="31363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🍗  Nuggets dorados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3560" y="36027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🥤  Combos y Bebidas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23560" y="40690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Entrega en &lt; 10 minutos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8288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5" name="Text 2"/>
          <p:cNvSpPr/>
          <p:nvPr/>
        </p:nvSpPr>
        <p:spPr>
          <a:xfrm>
            <a:off x="36576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 de Nuestra Marca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3931920" cy="3982212"/>
          </a:xfrm>
          <a:prstGeom prst="rect">
            <a:avLst/>
          </a:prstGeom>
          <a:solidFill>
            <a:srgbClr val="111111">
              <a:alpha val="80000"/>
            </a:srgbClr>
          </a:solidFill>
          <a:ln w="25400">
            <a:solidFill>
              <a:srgbClr val="FFBE00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7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Objetivos General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846322" y="1058862"/>
            <a:ext cx="3931920" cy="4017739"/>
          </a:xfrm>
          <a:prstGeom prst="rect">
            <a:avLst/>
          </a:prstGeom>
          <a:solidFill>
            <a:srgbClr val="111111">
              <a:alpha val="80000"/>
            </a:srgbClr>
          </a:solidFill>
          <a:ln w="254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0" name="Text 7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0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</a:t>
            </a:r>
            <a:r>
              <a:rPr lang="en-US" sz="1800" b="0" i="0" u="none" strike="noStrike" dirty="0">
                <a:solidFill>
                  <a:srgbClr val="E4863B"/>
                </a:solidFill>
                <a:effectLst/>
                <a:latin typeface="Raleway" pitchFamily="2" charset="0"/>
              </a:rPr>
              <a:t>Objetivos Específicos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7EE9FF18-FCDC-976D-1F85-C4DF55FEA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5481C623-1E6E-E4A6-C036-F920EC891D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8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20" name="AutoShape 8">
            <a:extLst>
              <a:ext uri="{FF2B5EF4-FFF2-40B4-BE49-F238E27FC236}">
                <a16:creationId xmlns:a16="http://schemas.microsoft.com/office/drawing/2014/main" id="{5B5DC1D2-CAE5-548B-F39A-9B5E70775F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12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81613E2-E18D-1E53-4AA0-2AF5040B96C5}"/>
              </a:ext>
            </a:extLst>
          </p:cNvPr>
          <p:cNvSpPr txBox="1"/>
          <p:nvPr/>
        </p:nvSpPr>
        <p:spPr>
          <a:xfrm>
            <a:off x="495300" y="1930908"/>
            <a:ext cx="356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0" i="0" dirty="0">
                <a:solidFill>
                  <a:srgbClr val="FFFFFF"/>
                </a:solidFill>
                <a:effectLst/>
                <a:latin typeface="Poppins" panose="020B0502040204020203" pitchFamily="2" charset="0"/>
              </a:rPr>
              <a:t>"Convertirnos en la cadena de comida rápida líder en sabor, calidad y velocidad de servicio en toda la ciudad."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FF49A6A-E031-A0F5-9EFE-7A92BC872988}"/>
              </a:ext>
            </a:extLst>
          </p:cNvPr>
          <p:cNvSpPr txBox="1"/>
          <p:nvPr/>
        </p:nvSpPr>
        <p:spPr>
          <a:xfrm>
            <a:off x="5043268" y="1621810"/>
            <a:ext cx="34817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🥬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200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Calidad de Ingredientes:</a:t>
            </a: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 Ofrecer insumos 100% frescos en todos nuestros platillos.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⏱️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200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Eficiencia Operativa:</a:t>
            </a: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 Optimizar los procesos para garantizar tiempos de entrega menores a 10 minutos.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⭐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200" b="1" i="0" dirty="0">
                <a:solidFill>
                  <a:srgbClr val="FFFFFF"/>
                </a:solidFill>
                <a:effectLst/>
                <a:latin typeface="Poppins" panose="00000500000000000000" pitchFamily="2" charset="0"/>
              </a:rPr>
              <a:t>Satisfacción del Cliente:</a:t>
            </a:r>
            <a:r>
              <a:rPr lang="es-ES" sz="1200" b="0" i="0" dirty="0">
                <a:solidFill>
                  <a:srgbClr val="AAAAAA"/>
                </a:solidFill>
                <a:effectLst/>
                <a:latin typeface="Poppins" panose="00000500000000000000" pitchFamily="2" charset="0"/>
              </a:rPr>
              <a:t> Mantener una calificación promedio de 4.9 o más en nuestras plataformas.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DB0BCD5-6337-F141-B32A-A2B71F84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05840"/>
            <a:ext cx="9144000" cy="41376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Navegación</a:t>
            </a:r>
            <a:endParaRPr lang="en-US" sz="3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1419EA-0958-72C3-3459-C518A81D2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943" y="1220555"/>
            <a:ext cx="6738114" cy="3708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C9F25C1-4091-1928-1748-560C4521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36449"/>
            <a:ext cx="9144000" cy="46184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36449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744" y="-421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Esquema (Wireframe) del Inicio</a:t>
            </a:r>
            <a:endParaRPr lang="en-US" sz="2000" dirty="0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B9DE89F6-88FC-452A-070A-244359EED2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333"/>
          <a:stretch/>
        </p:blipFill>
        <p:spPr>
          <a:xfrm>
            <a:off x="676656" y="918020"/>
            <a:ext cx="3785616" cy="3740658"/>
          </a:xfrm>
          <a:prstGeom prst="rect">
            <a:avLst/>
          </a:prstGeo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D29C91F9-1444-0D32-D65D-21B6112A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126"/>
          <a:stretch/>
        </p:blipFill>
        <p:spPr>
          <a:xfrm>
            <a:off x="4947602" y="918020"/>
            <a:ext cx="3578352" cy="3740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C9F25C1-4091-1928-1748-560C4521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36449"/>
            <a:ext cx="9144000" cy="46184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536449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744" y="-421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Esquema (Wireframe) del Inicio</a:t>
            </a:r>
            <a:endParaRPr lang="en-US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D0D44C-B3C6-B4FB-2999-153092DB4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25" y="685800"/>
            <a:ext cx="6203950" cy="407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58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34EACAC-9D00-639C-FC10-63CBE342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27BC14B-DADE-42B8-33B8-CE935B279669}"/>
              </a:ext>
            </a:extLst>
          </p:cNvPr>
          <p:cNvSpPr/>
          <p:nvPr/>
        </p:nvSpPr>
        <p:spPr>
          <a:xfrm>
            <a:off x="25431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03871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s-ES" dirty="0">
                <a:solidFill>
                  <a:schemeClr val="bg1"/>
                </a:solidFill>
              </a:rPr>
              <a:t>• Sprints Cortos y Entregas Frecuentes: Desarrollo estructurado en ciclos semanales para iteración rápida.</a:t>
            </a:r>
          </a:p>
          <a:p>
            <a:pPr>
              <a:defRPr sz="2000"/>
            </a:pPr>
            <a:r>
              <a:rPr lang="es-ES" dirty="0">
                <a:solidFill>
                  <a:schemeClr val="bg1"/>
                </a:solidFill>
              </a:rPr>
              <a:t>• Daily Stand-ups: Reuniones breves de sincronización de equipo para evaluar progreso y bloqueos.</a:t>
            </a:r>
          </a:p>
          <a:p>
            <a:pPr>
              <a:defRPr sz="2000"/>
            </a:pPr>
            <a:r>
              <a:rPr lang="es-ES" dirty="0">
                <a:solidFill>
                  <a:schemeClr val="bg1"/>
                </a:solidFill>
              </a:rPr>
              <a:t>• Product Backlog: Lista priorizada de tareas que va desde el maquetado HTML hasta la lógica interactiva.</a:t>
            </a:r>
          </a:p>
          <a:p>
            <a:pPr>
              <a:defRPr sz="2000"/>
            </a:pPr>
            <a:r>
              <a:rPr lang="es-ES" dirty="0">
                <a:solidFill>
                  <a:schemeClr val="bg1"/>
                </a:solidFill>
              </a:rPr>
              <a:t>• Adaptabilidad al Cambio: Flexibilidad para reasignar tareas y mejorar el diseño web en tiempo real basándose en resultados.</a:t>
            </a:r>
          </a:p>
          <a:p>
            <a:pPr>
              <a:defRPr sz="2000"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6220" y="236130"/>
            <a:ext cx="820416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Gestión del Proyecto: Metodología Ágil SCRUM</a:t>
            </a:r>
          </a:p>
          <a:p>
            <a:pPr>
              <a:defRPr sz="3200" b="1"/>
            </a:pP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0" name="Text 1"/>
          <p:cNvSpPr/>
          <p:nvPr/>
        </p:nvSpPr>
        <p:spPr>
          <a:xfrm>
            <a:off x="731520" y="3420209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26DDDB-26C3-16A2-1007-B67A80529548}"/>
              </a:ext>
            </a:extLst>
          </p:cNvPr>
          <p:cNvSpPr txBox="1"/>
          <p:nvPr/>
        </p:nvSpPr>
        <p:spPr>
          <a:xfrm>
            <a:off x="323088" y="230110"/>
            <a:ext cx="4605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Raleway" pitchFamily="2" charset="0"/>
              </a:rPr>
              <a:t>Conclusiones</a:t>
            </a:r>
          </a:p>
          <a:p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95B924-CBE1-0817-543E-4ED974BA26A6}"/>
              </a:ext>
            </a:extLst>
          </p:cNvPr>
          <p:cNvSpPr txBox="1"/>
          <p:nvPr/>
        </p:nvSpPr>
        <p:spPr>
          <a:xfrm>
            <a:off x="4133088" y="703003"/>
            <a:ext cx="48280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b="1" i="0" dirty="0">
                <a:solidFill>
                  <a:srgbClr val="CCCCCC"/>
                </a:solidFill>
                <a:effectLst/>
                <a:latin typeface="Segoe WPC"/>
              </a:rPr>
              <a:t> Simulación de Base de Datos (CRUD):</a:t>
            </a:r>
            <a:r>
              <a:rPr lang="es-ES" b="0" i="0" dirty="0">
                <a:solidFill>
                  <a:srgbClr val="CCCCCC"/>
                </a:solidFill>
                <a:effectLst/>
                <a:latin typeface="Segoe WPC"/>
              </a:rPr>
              <a:t> La </a:t>
            </a:r>
            <a:r>
              <a:rPr lang="es-ES" i="0" dirty="0">
                <a:solidFill>
                  <a:srgbClr val="CCCCCC"/>
                </a:solidFill>
                <a:effectLst/>
                <a:latin typeface="Segoe WPC"/>
              </a:rPr>
              <a:t>simulación de base de datos permitió gestionar el catálogo completo del restaurante desde un panel de administración, haciendo posible crear, modificar, visualizar y eliminar productos fácilmente utilizando el almacenamiento local (</a:t>
            </a:r>
            <a:r>
              <a:rPr lang="es-ES" i="0" dirty="0" err="1">
                <a:solidFill>
                  <a:srgbClr val="CCCCCC"/>
                </a:solidFill>
                <a:effectLst/>
                <a:latin typeface="Segoe WPC"/>
              </a:rPr>
              <a:t>LocalStorage</a:t>
            </a:r>
            <a:r>
              <a:rPr lang="es-ES" i="0" dirty="0">
                <a:solidFill>
                  <a:srgbClr val="CCCCCC"/>
                </a:solidFill>
                <a:effectLst/>
                <a:latin typeface="Segoe WPC"/>
              </a:rPr>
              <a:t>).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82DBC5-4CA9-1BD1-62D2-B58294B687D6}"/>
              </a:ext>
            </a:extLst>
          </p:cNvPr>
          <p:cNvSpPr txBox="1"/>
          <p:nvPr/>
        </p:nvSpPr>
        <p:spPr>
          <a:xfrm>
            <a:off x="323088" y="2821929"/>
            <a:ext cx="381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b="1" i="0" dirty="0">
                <a:solidFill>
                  <a:srgbClr val="CCCCCC"/>
                </a:solidFill>
                <a:effectLst/>
                <a:latin typeface="Segoe WPC"/>
              </a:rPr>
              <a:t>Diseño adaptable:</a:t>
            </a:r>
            <a:r>
              <a:rPr lang="es-ES" b="0" i="0" dirty="0">
                <a:solidFill>
                  <a:srgbClr val="CCCCCC"/>
                </a:solidFill>
                <a:effectLst/>
                <a:latin typeface="Segoe WPC"/>
              </a:rPr>
              <a:t> Usar Flexbox, Grid y Media Queries garantizó que la web se vea y funcione perfecto tanto en celulares como en PCs.</a:t>
            </a:r>
          </a:p>
          <a:p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E40DA-12DE-58E7-0FE1-D90D5173D8E7}"/>
              </a:ext>
            </a:extLst>
          </p:cNvPr>
          <p:cNvSpPr txBox="1"/>
          <p:nvPr/>
        </p:nvSpPr>
        <p:spPr>
          <a:xfrm>
            <a:off x="4133088" y="2821929"/>
            <a:ext cx="3889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b="1" i="0" dirty="0">
                <a:solidFill>
                  <a:srgbClr val="CCCCCC"/>
                </a:solidFill>
                <a:effectLst/>
                <a:latin typeface="Segoe WPC"/>
              </a:rPr>
              <a:t>Trabajo Colaborativo Exitoso:</a:t>
            </a:r>
            <a:r>
              <a:rPr lang="es-ES" b="0" i="0" dirty="0">
                <a:solidFill>
                  <a:srgbClr val="CCCCCC"/>
                </a:solidFill>
                <a:effectLst/>
                <a:latin typeface="Segoe WPC"/>
              </a:rPr>
              <a:t> Aplicar la metodología ágil SCRUM garantizó una distribución justa de tareas entre los integrantes, logrando entregar un proyecto profesional a tiempo.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B06CBE-FD8E-CAF8-A3A9-84ED8464EC83}"/>
              </a:ext>
            </a:extLst>
          </p:cNvPr>
          <p:cNvSpPr txBox="1"/>
          <p:nvPr/>
        </p:nvSpPr>
        <p:spPr>
          <a:xfrm>
            <a:off x="323088" y="703003"/>
            <a:ext cx="381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b="1" i="0" dirty="0">
                <a:solidFill>
                  <a:srgbClr val="CCCCCC"/>
                </a:solidFill>
                <a:effectLst/>
                <a:latin typeface="Segoe WPC"/>
              </a:rPr>
              <a:t>Lógica Dinámica Eficiente:</a:t>
            </a:r>
            <a:r>
              <a:rPr lang="es-ES" b="0" i="0" dirty="0">
                <a:solidFill>
                  <a:srgbClr val="CCCCCC"/>
                </a:solidFill>
                <a:effectLst/>
                <a:latin typeface="Segoe WPC"/>
              </a:rPr>
              <a:t> El uso de JavaScript permitió crear una página totalmente dinámica, que </a:t>
            </a:r>
            <a:r>
              <a:rPr lang="es-ES" i="0" dirty="0">
                <a:solidFill>
                  <a:srgbClr val="CCCCCC"/>
                </a:solidFill>
                <a:effectLst/>
                <a:latin typeface="Segoe WPC"/>
              </a:rPr>
              <a:t>permite la interacción en tiempo real de los usuarios.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1735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828800" y="914400"/>
            <a:ext cx="5486400" cy="3200400"/>
          </a:xfrm>
          <a:prstGeom prst="rect">
            <a:avLst/>
          </a:prstGeom>
          <a:solidFill>
            <a:srgbClr val="000000">
              <a:alpha val="65000"/>
            </a:srgbClr>
          </a:solidFill>
          <a:ln w="38100">
            <a:solidFill>
              <a:srgbClr val="FFBE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914400"/>
            <a:ext cx="5486400" cy="50292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20240" y="9601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SpeedBurger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20240" y="15544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B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920240" y="27432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alguna pregunta sobre el código o el diseño?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Desarrollo Web · Fast Food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436</Words>
  <Application>Microsoft Office PowerPoint</Application>
  <PresentationFormat>Presentación en pantalla (16:9)</PresentationFormat>
  <Paragraphs>66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Poppins</vt:lpstr>
      <vt:lpstr>Raleway</vt:lpstr>
      <vt:lpstr>Segoe WPC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SpeedBurger</dc:title>
  <dc:subject>PptxGenJS Presentation</dc:subject>
  <dc:creator>PptxGenJS</dc:creator>
  <cp:lastModifiedBy>kelvin acevedo</cp:lastModifiedBy>
  <cp:revision>18</cp:revision>
  <dcterms:created xsi:type="dcterms:W3CDTF">2026-04-08T17:13:49Z</dcterms:created>
  <dcterms:modified xsi:type="dcterms:W3CDTF">2026-07-06T05:58:35Z</dcterms:modified>
</cp:coreProperties>
</file>